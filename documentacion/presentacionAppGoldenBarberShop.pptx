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  <p:sldId id="265" r:id="rId11"/>
  </p:sldIdLst>
  <p:sldSz cx="12193588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2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goaAjoKueAcLpemVaX0kddbUYj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2" y="96"/>
      </p:cViewPr>
      <p:guideLst>
        <p:guide orient="horz" pos="2161"/>
        <p:guide pos="3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4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33" y="0"/>
            <a:ext cx="121807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1" y="0"/>
            <a:ext cx="1218706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963211" y="4406902"/>
            <a:ext cx="1036455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19"/>
              <a:buFont typeface="Calibri"/>
              <a:buNone/>
              <a:defRPr sz="4819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963211" y="2906715"/>
            <a:ext cx="103645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69"/>
              </a:spcBef>
              <a:spcAft>
                <a:spcPts val="0"/>
              </a:spcAft>
              <a:buClr>
                <a:srgbClr val="888888"/>
              </a:buClr>
              <a:buSzPts val="2344"/>
              <a:buFont typeface="Arial"/>
              <a:buNone/>
              <a:defRPr sz="234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43"/>
              </a:spcBef>
              <a:spcAft>
                <a:spcPts val="0"/>
              </a:spcAft>
              <a:buClr>
                <a:srgbClr val="888888"/>
              </a:buClr>
              <a:buSzPts val="2214"/>
              <a:buFont typeface="Arial"/>
              <a:buNone/>
              <a:defRPr sz="221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91"/>
              </a:spcBef>
              <a:spcAft>
                <a:spcPts val="0"/>
              </a:spcAft>
              <a:buClr>
                <a:srgbClr val="888888"/>
              </a:buClr>
              <a:buSzPts val="1954"/>
              <a:buFont typeface="Arial"/>
              <a:buNone/>
              <a:defRPr sz="195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693"/>
              <a:buFont typeface="Arial"/>
              <a:buNone/>
              <a:defRPr sz="1693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609679" y="1600200"/>
            <a:ext cx="53855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•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–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–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»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body" idx="2"/>
          </p:nvPr>
        </p:nvSpPr>
        <p:spPr>
          <a:xfrm>
            <a:off x="6198409" y="1600200"/>
            <a:ext cx="53855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•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–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–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»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1"/>
          </p:nvPr>
        </p:nvSpPr>
        <p:spPr>
          <a:xfrm>
            <a:off x="609679" y="1535113"/>
            <a:ext cx="5387619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None/>
              <a:defRPr sz="286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None/>
              <a:defRPr sz="221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2"/>
          </p:nvPr>
        </p:nvSpPr>
        <p:spPr>
          <a:xfrm>
            <a:off x="609679" y="2174876"/>
            <a:ext cx="5387619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–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»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3"/>
          </p:nvPr>
        </p:nvSpPr>
        <p:spPr>
          <a:xfrm>
            <a:off x="6194176" y="1535113"/>
            <a:ext cx="5389735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None/>
              <a:defRPr sz="2865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None/>
              <a:defRPr sz="221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None/>
              <a:defRPr sz="195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4"/>
          </p:nvPr>
        </p:nvSpPr>
        <p:spPr>
          <a:xfrm>
            <a:off x="6194176" y="2174876"/>
            <a:ext cx="538973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69189" algn="l" rtl="0">
              <a:spcBef>
                <a:spcPts val="443"/>
              </a:spcBef>
              <a:spcAft>
                <a:spcPts val="0"/>
              </a:spcAft>
              <a:buClr>
                <a:schemeClr val="dk1"/>
              </a:buClr>
              <a:buSzPts val="2214"/>
              <a:buFont typeface="Arial"/>
              <a:buChar char="•"/>
              <a:defRPr sz="221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–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»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2679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2678" algn="l" rtl="0">
              <a:spcBef>
                <a:spcPts val="391"/>
              </a:spcBef>
              <a:spcAft>
                <a:spcPts val="0"/>
              </a:spcAft>
              <a:buClr>
                <a:schemeClr val="dk1"/>
              </a:buClr>
              <a:buSzPts val="1954"/>
              <a:buFont typeface="Arial"/>
              <a:buChar char="•"/>
              <a:defRPr sz="195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>
            <a:off x="609682" y="273051"/>
            <a:ext cx="4011605" cy="1162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4"/>
              <a:buFont typeface="Calibri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767355" y="273051"/>
            <a:ext cx="6816554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2"/>
          </p:nvPr>
        </p:nvSpPr>
        <p:spPr>
          <a:xfrm>
            <a:off x="609682" y="1435102"/>
            <a:ext cx="4011605" cy="4691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693"/>
              <a:buFont typeface="Arial"/>
              <a:buNone/>
              <a:defRPr sz="16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87"/>
              </a:spcBef>
              <a:spcAft>
                <a:spcPts val="0"/>
              </a:spcAft>
              <a:buClr>
                <a:schemeClr val="dk1"/>
              </a:buClr>
              <a:buSzPts val="1433"/>
              <a:buFont typeface="Arial"/>
              <a:buNone/>
              <a:defRPr sz="14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34"/>
              </a:spcBef>
              <a:spcAft>
                <a:spcPts val="0"/>
              </a:spcAft>
              <a:buClr>
                <a:schemeClr val="dk1"/>
              </a:buClr>
              <a:buSzPts val="1172"/>
              <a:buFont typeface="Arial"/>
              <a:buNone/>
              <a:defRPr sz="117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390029" y="4800599"/>
            <a:ext cx="7316153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44"/>
              <a:buFont typeface="Calibri"/>
              <a:buNone/>
              <a:defRPr sz="2344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3"/>
          <p:cNvSpPr>
            <a:spLocks noGrp="1"/>
          </p:cNvSpPr>
          <p:nvPr>
            <p:ph type="pic" idx="2"/>
          </p:nvPr>
        </p:nvSpPr>
        <p:spPr>
          <a:xfrm>
            <a:off x="2390029" y="612777"/>
            <a:ext cx="7316153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2390029" y="5367339"/>
            <a:ext cx="7316153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693"/>
              <a:buFont typeface="Arial"/>
              <a:buNone/>
              <a:defRPr sz="16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87"/>
              </a:spcBef>
              <a:spcAft>
                <a:spcPts val="0"/>
              </a:spcAft>
              <a:buClr>
                <a:schemeClr val="dk1"/>
              </a:buClr>
              <a:buSzPts val="1433"/>
              <a:buFont typeface="Arial"/>
              <a:buNone/>
              <a:defRPr sz="14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34"/>
              </a:spcBef>
              <a:spcAft>
                <a:spcPts val="0"/>
              </a:spcAft>
              <a:buClr>
                <a:schemeClr val="dk1"/>
              </a:buClr>
              <a:buSzPts val="1172"/>
              <a:buFont typeface="Arial"/>
              <a:buNone/>
              <a:defRPr sz="117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208"/>
              </a:spcBef>
              <a:spcAft>
                <a:spcPts val="0"/>
              </a:spcAft>
              <a:buClr>
                <a:schemeClr val="dk1"/>
              </a:buClr>
              <a:buSzPts val="1042"/>
              <a:buFont typeface="Arial"/>
              <a:buNone/>
              <a:defRPr sz="104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 rot="5400000">
            <a:off x="3833815" y="-1623933"/>
            <a:ext cx="4525963" cy="10974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 rot="5400000">
            <a:off x="7286368" y="1828622"/>
            <a:ext cx="5851525" cy="274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40"/>
              <a:buFont typeface="Calibri"/>
              <a:buNone/>
              <a:defRPr sz="53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 rot="5400000">
            <a:off x="1697641" y="-813323"/>
            <a:ext cx="5851525" cy="8027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76694" algn="l" rtl="0">
              <a:spcBef>
                <a:spcPts val="781"/>
              </a:spcBef>
              <a:spcAft>
                <a:spcPts val="0"/>
              </a:spcAft>
              <a:buClr>
                <a:schemeClr val="dk1"/>
              </a:buClr>
              <a:buSzPts val="3907"/>
              <a:buFont typeface="Arial"/>
              <a:buChar char="•"/>
              <a:defRPr sz="390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43674" algn="l" rtl="0">
              <a:spcBef>
                <a:spcPts val="677"/>
              </a:spcBef>
              <a:spcAft>
                <a:spcPts val="0"/>
              </a:spcAft>
              <a:buClr>
                <a:schemeClr val="dk1"/>
              </a:buClr>
              <a:buSzPts val="3387"/>
              <a:buFont typeface="Arial"/>
              <a:buChar char="–"/>
              <a:defRPr sz="338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10527" algn="l" rtl="0">
              <a:spcBef>
                <a:spcPts val="573"/>
              </a:spcBef>
              <a:spcAft>
                <a:spcPts val="0"/>
              </a:spcAft>
              <a:buClr>
                <a:schemeClr val="dk1"/>
              </a:buClr>
              <a:buSzPts val="2865"/>
              <a:buFont typeface="Arial"/>
              <a:buChar char="•"/>
              <a:defRPr sz="286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–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»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77444" algn="l" rtl="0">
              <a:spcBef>
                <a:spcPts val="469"/>
              </a:spcBef>
              <a:spcAft>
                <a:spcPts val="0"/>
              </a:spcAft>
              <a:buClr>
                <a:schemeClr val="dk1"/>
              </a:buClr>
              <a:buSzPts val="2344"/>
              <a:buFont typeface="Arial"/>
              <a:buChar char="•"/>
              <a:defRPr sz="23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dt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ft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6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226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261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4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433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svg"/><Relationship Id="rId7" Type="http://schemas.openxmlformats.org/officeDocument/2006/relationships/image" Target="../media/image15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jpeg"/><Relationship Id="rId5" Type="http://schemas.openxmlformats.org/officeDocument/2006/relationships/image" Target="../media/image25.png"/><Relationship Id="rId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svg"/><Relationship Id="rId7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0.png"/><Relationship Id="rId7" Type="http://schemas.openxmlformats.org/officeDocument/2006/relationships/image" Target="../media/image1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3.png"/><Relationship Id="rId4" Type="http://schemas.openxmlformats.org/officeDocument/2006/relationships/image" Target="../media/image21.jpe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/>
        </p:nvSpPr>
        <p:spPr>
          <a:xfrm>
            <a:off x="-893722" y="3535949"/>
            <a:ext cx="694156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Oscar Mauricio Areiza Paramo</a:t>
            </a:r>
            <a:br>
              <a:rPr lang="es-E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Diego Mauricio Delgado Espinosa</a:t>
            </a:r>
            <a:br>
              <a:rPr lang="es-E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Juan Sebastián Sánchez Silva</a:t>
            </a: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245613" y="892604"/>
            <a:ext cx="4662900" cy="186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5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 Golden BarberShop</a:t>
            </a:r>
            <a:endParaRPr sz="50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74;p1">
            <a:extLst>
              <a:ext uri="{FF2B5EF4-FFF2-40B4-BE49-F238E27FC236}">
                <a16:creationId xmlns:a16="http://schemas.microsoft.com/office/drawing/2014/main" id="{6A2221B0-1699-DFB3-F4E3-8C2E5255EC9F}"/>
              </a:ext>
            </a:extLst>
          </p:cNvPr>
          <p:cNvSpPr txBox="1"/>
          <p:nvPr/>
        </p:nvSpPr>
        <p:spPr>
          <a:xfrm>
            <a:off x="-1040026" y="384644"/>
            <a:ext cx="694156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Programación móvil 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Imagen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AE7D5F52-E1E5-2FF3-2AFD-C1AA06CA5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537" y="1297512"/>
            <a:ext cx="5050257" cy="40490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5EEE6A8-FC3B-ED35-42DA-B6EA85B039C8}"/>
              </a:ext>
            </a:extLst>
          </p:cNvPr>
          <p:cNvSpPr txBox="1"/>
          <p:nvPr/>
        </p:nvSpPr>
        <p:spPr>
          <a:xfrm>
            <a:off x="557784" y="585216"/>
            <a:ext cx="921715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ES" sz="4000" b="1" dirty="0">
                <a:solidFill>
                  <a:srgbClr val="FFC000"/>
                </a:solidFill>
              </a:rPr>
              <a:t>¿De dónde nace Golden BarberShop?</a:t>
            </a:r>
          </a:p>
          <a:p>
            <a:pPr>
              <a:buNone/>
            </a:pPr>
            <a:endParaRPr lang="es-ES" sz="4000" b="1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es-ES" dirty="0"/>
              <a:t>Golden Barber Shop surge como respuesta a tres problemas comunes:</a:t>
            </a:r>
          </a:p>
          <a:p>
            <a:pPr>
              <a:buNone/>
            </a:pPr>
            <a:r>
              <a:rPr lang="es-ES" dirty="0"/>
              <a:t>	 </a:t>
            </a:r>
          </a:p>
          <a:p>
            <a:pPr>
              <a:buNone/>
            </a:pPr>
            <a:endParaRPr lang="es-ES" dirty="0"/>
          </a:p>
          <a:p>
            <a:pPr lvl="2"/>
            <a:r>
              <a:rPr lang="es-ES" b="1" dirty="0"/>
              <a:t>     	Esperas innecesarias</a:t>
            </a:r>
            <a:r>
              <a:rPr lang="es-ES" dirty="0"/>
              <a:t> por no poder reservar turnos con anticipación.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r>
              <a:rPr lang="es-ES" b="1" dirty="0"/>
              <a:t>	Desorganización en las reservas</a:t>
            </a:r>
            <a:r>
              <a:rPr lang="es-ES" dirty="0"/>
              <a:t>, gestionadas informalmente por WhatsApp.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r>
              <a:rPr lang="es-ES" b="1" dirty="0"/>
              <a:t>	Falta de visibilidad sobre la disponibilidad</a:t>
            </a:r>
            <a:r>
              <a:rPr lang="es-ES" dirty="0"/>
              <a:t> de los barberos.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r>
              <a:rPr lang="es-ES" b="1" dirty="0">
                <a:solidFill>
                  <a:srgbClr val="FFC000"/>
                </a:solidFill>
              </a:rPr>
              <a:t>Nuestro objetivo:</a:t>
            </a:r>
          </a:p>
          <a:p>
            <a:pPr lvl="1"/>
            <a:br>
              <a:rPr lang="es-ES" dirty="0"/>
            </a:br>
            <a:r>
              <a:rPr lang="es-ES" dirty="0"/>
              <a:t>	Brindar una solución digital que permita organizar las reservas de forma eficiente,</a:t>
            </a:r>
          </a:p>
          <a:p>
            <a:pPr lvl="1"/>
            <a:r>
              <a:rPr lang="es-ES" dirty="0"/>
              <a:t>	mejorando la experiencia tanto del cliente como del personal de la barbería.</a:t>
            </a:r>
          </a:p>
          <a:p>
            <a:endParaRPr lang="es-CO" dirty="0"/>
          </a:p>
        </p:txBody>
      </p:sp>
      <p:pic>
        <p:nvPicPr>
          <p:cNvPr id="4" name="Gráfico 3" descr="Marca de verificación con relleno sólido">
            <a:extLst>
              <a:ext uri="{FF2B5EF4-FFF2-40B4-BE49-F238E27FC236}">
                <a16:creationId xmlns:a16="http://schemas.microsoft.com/office/drawing/2014/main" id="{B78B7301-DA95-0253-37A5-8746BD5D4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4754" y="3044952"/>
            <a:ext cx="228600" cy="228600"/>
          </a:xfrm>
          <a:prstGeom prst="rect">
            <a:avLst/>
          </a:prstGeom>
        </p:spPr>
      </p:pic>
      <p:pic>
        <p:nvPicPr>
          <p:cNvPr id="5" name="Gráfico 4" descr="Marca de verificación con relleno sólido">
            <a:extLst>
              <a:ext uri="{FF2B5EF4-FFF2-40B4-BE49-F238E27FC236}">
                <a16:creationId xmlns:a16="http://schemas.microsoft.com/office/drawing/2014/main" id="{4E9BB37D-BFB4-E530-B839-149A722AC4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4754" y="3429000"/>
            <a:ext cx="228600" cy="228600"/>
          </a:xfrm>
          <a:prstGeom prst="rect">
            <a:avLst/>
          </a:prstGeom>
        </p:spPr>
      </p:pic>
      <p:pic>
        <p:nvPicPr>
          <p:cNvPr id="6" name="Gráfico 5" descr="Marca de verificación con relleno sólido">
            <a:extLst>
              <a:ext uri="{FF2B5EF4-FFF2-40B4-BE49-F238E27FC236}">
                <a16:creationId xmlns:a16="http://schemas.microsoft.com/office/drawing/2014/main" id="{E438A3BE-DF2B-837D-B703-435D95A5A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4754" y="3813048"/>
            <a:ext cx="228600" cy="228600"/>
          </a:xfrm>
          <a:prstGeom prst="rect">
            <a:avLst/>
          </a:prstGeom>
        </p:spPr>
      </p:pic>
      <p:pic>
        <p:nvPicPr>
          <p:cNvPr id="1026" name="Picture 2" descr="Barberia Gq | Barbero en Huaral">
            <a:extLst>
              <a:ext uri="{FF2B5EF4-FFF2-40B4-BE49-F238E27FC236}">
                <a16:creationId xmlns:a16="http://schemas.microsoft.com/office/drawing/2014/main" id="{95429C80-68D2-DCB7-7C9A-919852B0F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1960" y="1433322"/>
            <a:ext cx="3806952" cy="285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 descr="Forma&#10;&#10;El contenido generado por IA puede ser incorrecto.">
            <a:extLst>
              <a:ext uri="{FF2B5EF4-FFF2-40B4-BE49-F238E27FC236}">
                <a16:creationId xmlns:a16="http://schemas.microsoft.com/office/drawing/2014/main" id="{5B25F91E-8BE9-5A88-BBD0-A243C2E5BE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4933" y="4583462"/>
            <a:ext cx="1243131" cy="1243131"/>
          </a:xfrm>
          <a:prstGeom prst="rect">
            <a:avLst/>
          </a:prstGeom>
        </p:spPr>
      </p:pic>
      <p:pic>
        <p:nvPicPr>
          <p:cNvPr id="10" name="Imagen 9" descr="Forma&#10;&#10;El contenido generado por IA puede ser incorrecto.">
            <a:extLst>
              <a:ext uri="{FF2B5EF4-FFF2-40B4-BE49-F238E27FC236}">
                <a16:creationId xmlns:a16="http://schemas.microsoft.com/office/drawing/2014/main" id="{12CBA982-EAA5-F033-A836-1825A39B1A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1192" y="4691751"/>
            <a:ext cx="1134842" cy="11348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FA46629-7AF0-DE2D-D7D8-1414F76531D3}"/>
              </a:ext>
            </a:extLst>
          </p:cNvPr>
          <p:cNvSpPr txBox="1"/>
          <p:nvPr/>
        </p:nvSpPr>
        <p:spPr>
          <a:xfrm>
            <a:off x="596614" y="658368"/>
            <a:ext cx="1001268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endParaRPr lang="es-ES" sz="3600" b="1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es-ES" sz="3600" b="1" dirty="0">
                <a:solidFill>
                  <a:srgbClr val="FFC000"/>
                </a:solidFill>
              </a:rPr>
              <a:t>Nuestra solución</a:t>
            </a:r>
          </a:p>
          <a:p>
            <a:pPr>
              <a:buNone/>
            </a:pPr>
            <a:endParaRPr lang="es-ES" sz="3600" b="1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es-ES" dirty="0"/>
              <a:t>Desarrollamos una app móvil que permite: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endParaRPr lang="es-ES" dirty="0"/>
          </a:p>
          <a:p>
            <a:r>
              <a:rPr lang="es-ES" b="1" dirty="0"/>
              <a:t>	Reservar turnos fácilmente</a:t>
            </a:r>
            <a:r>
              <a:rPr lang="es-ES" dirty="0"/>
              <a:t> desde el celular.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r>
              <a:rPr lang="es-ES" b="1" dirty="0"/>
              <a:t>	Ver disponibilidad en tiempo real</a:t>
            </a:r>
            <a:r>
              <a:rPr lang="es-ES" dirty="0"/>
              <a:t> de los barberos.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r>
              <a:rPr lang="es-ES" b="1" dirty="0"/>
              <a:t>	Consultar información del negocio</a:t>
            </a:r>
            <a:r>
              <a:rPr lang="es-ES" dirty="0"/>
              <a:t> como horarios y servicios</a:t>
            </a:r>
          </a:p>
          <a:p>
            <a:endParaRPr lang="es-ES" dirty="0"/>
          </a:p>
          <a:p>
            <a:r>
              <a:rPr lang="es-ES" b="1" dirty="0"/>
              <a:t>	</a:t>
            </a:r>
            <a:r>
              <a:rPr lang="es-ES" b="1" dirty="0">
                <a:solidFill>
                  <a:schemeClr val="tx1"/>
                </a:solidFill>
              </a:rPr>
              <a:t>Organizar citas</a:t>
            </a:r>
            <a:r>
              <a:rPr lang="es-ES" dirty="0">
                <a:solidFill>
                  <a:schemeClr val="tx1"/>
                </a:solidFill>
              </a:rPr>
              <a:t> </a:t>
            </a:r>
            <a:r>
              <a:rPr lang="es-ES" dirty="0"/>
              <a:t>con una interfaz simple y clara.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endParaRPr lang="es-ES" dirty="0"/>
          </a:p>
          <a:p>
            <a:pPr algn="ctr"/>
            <a:r>
              <a:rPr lang="es-ES" sz="2000" b="1" dirty="0">
                <a:solidFill>
                  <a:srgbClr val="FFC000"/>
                </a:solidFill>
              </a:rPr>
              <a:t>Conclusión:</a:t>
            </a:r>
          </a:p>
          <a:p>
            <a:endParaRPr lang="es-ES" sz="2000" b="1" dirty="0">
              <a:solidFill>
                <a:srgbClr val="FFC000"/>
              </a:solidFill>
            </a:endParaRPr>
          </a:p>
          <a:p>
            <a:r>
              <a:rPr lang="es-ES" dirty="0"/>
              <a:t>	Una herramienta pensada para mejorar la atención al cliente y facilitar el trabajo del equipo de la barbería.</a:t>
            </a:r>
          </a:p>
        </p:txBody>
      </p:sp>
      <p:pic>
        <p:nvPicPr>
          <p:cNvPr id="3" name="Gráfico 2" descr="Marca de verificación con relleno sólido">
            <a:extLst>
              <a:ext uri="{FF2B5EF4-FFF2-40B4-BE49-F238E27FC236}">
                <a16:creationId xmlns:a16="http://schemas.microsoft.com/office/drawing/2014/main" id="{14C2E1F9-5F2E-8670-31C1-1B8D5EEDD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4754" y="3044952"/>
            <a:ext cx="228600" cy="228600"/>
          </a:xfrm>
          <a:prstGeom prst="rect">
            <a:avLst/>
          </a:prstGeom>
        </p:spPr>
      </p:pic>
      <p:pic>
        <p:nvPicPr>
          <p:cNvPr id="4" name="Gráfico 3" descr="Marca de verificación con relleno sólido">
            <a:extLst>
              <a:ext uri="{FF2B5EF4-FFF2-40B4-BE49-F238E27FC236}">
                <a16:creationId xmlns:a16="http://schemas.microsoft.com/office/drawing/2014/main" id="{1CDE87E1-9857-BA6F-16FC-10A0505A6E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4754" y="3429000"/>
            <a:ext cx="228600" cy="228600"/>
          </a:xfrm>
          <a:prstGeom prst="rect">
            <a:avLst/>
          </a:prstGeom>
        </p:spPr>
      </p:pic>
      <p:pic>
        <p:nvPicPr>
          <p:cNvPr id="5" name="Gráfico 4" descr="Marca de verificación con relleno sólido">
            <a:extLst>
              <a:ext uri="{FF2B5EF4-FFF2-40B4-BE49-F238E27FC236}">
                <a16:creationId xmlns:a16="http://schemas.microsoft.com/office/drawing/2014/main" id="{D7D184FB-6569-823F-ED80-A26B6F963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4754" y="3813048"/>
            <a:ext cx="228600" cy="228600"/>
          </a:xfrm>
          <a:prstGeom prst="rect">
            <a:avLst/>
          </a:prstGeom>
        </p:spPr>
      </p:pic>
      <p:pic>
        <p:nvPicPr>
          <p:cNvPr id="6" name="Gráfico 5" descr="Marca de verificación con relleno sólido">
            <a:extLst>
              <a:ext uri="{FF2B5EF4-FFF2-40B4-BE49-F238E27FC236}">
                <a16:creationId xmlns:a16="http://schemas.microsoft.com/office/drawing/2014/main" id="{69B37867-454A-1BF4-308C-3B44E3C0D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4754" y="4176379"/>
            <a:ext cx="228600" cy="2286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97CC248-F7C9-B02A-5C9E-313368783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0273" y="981060"/>
            <a:ext cx="2212681" cy="398880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846B74-ADBE-D500-521B-4A57814F5F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182" y="963309"/>
            <a:ext cx="2212680" cy="40065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600C50E-6D9D-8639-22F2-AABEC2628E8E}"/>
              </a:ext>
            </a:extLst>
          </p:cNvPr>
          <p:cNvSpPr txBox="1"/>
          <p:nvPr/>
        </p:nvSpPr>
        <p:spPr>
          <a:xfrm>
            <a:off x="411480" y="512064"/>
            <a:ext cx="806500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ES" sz="3600" b="1" dirty="0">
                <a:solidFill>
                  <a:srgbClr val="FFC000"/>
                </a:solidFill>
              </a:rPr>
              <a:t>Gestión del proyecto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dirty="0"/>
              <a:t>Utilizamos </a:t>
            </a:r>
            <a:r>
              <a:rPr lang="es-ES" b="1" dirty="0"/>
              <a:t>Trello</a:t>
            </a:r>
            <a:r>
              <a:rPr lang="es-ES" dirty="0"/>
              <a:t> para organizar y coordinar el desarrollo de la app: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endParaRPr lang="es-ES" dirty="0"/>
          </a:p>
          <a:p>
            <a:r>
              <a:rPr lang="es-ES" dirty="0"/>
              <a:t>	Creamos </a:t>
            </a:r>
            <a:r>
              <a:rPr lang="es-ES" b="1" dirty="0"/>
              <a:t>historias de usuario</a:t>
            </a:r>
            <a:r>
              <a:rPr lang="es-ES" dirty="0"/>
              <a:t> para cada funcionalidad.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r>
              <a:rPr lang="es-ES" dirty="0"/>
              <a:t>	Dividimos el trabajo por tareas claras y medibles.</a:t>
            </a:r>
          </a:p>
          <a:p>
            <a:endParaRPr lang="es-ES" dirty="0"/>
          </a:p>
          <a:p>
            <a:r>
              <a:rPr lang="es-ES" dirty="0"/>
              <a:t>	Seguimos el avance del equipo en tiempo real.</a:t>
            </a:r>
          </a:p>
          <a:p>
            <a:r>
              <a:rPr lang="es-ES" dirty="0"/>
              <a:t>.</a:t>
            </a:r>
          </a:p>
        </p:txBody>
      </p:sp>
      <p:pic>
        <p:nvPicPr>
          <p:cNvPr id="16" name="Gráfico 15" descr="Marca de verificación con relleno sólido">
            <a:extLst>
              <a:ext uri="{FF2B5EF4-FFF2-40B4-BE49-F238E27FC236}">
                <a16:creationId xmlns:a16="http://schemas.microsoft.com/office/drawing/2014/main" id="{AD869175-505A-4DDC-6475-D6439D45A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6179" y="2183273"/>
            <a:ext cx="228600" cy="228600"/>
          </a:xfrm>
          <a:prstGeom prst="rect">
            <a:avLst/>
          </a:prstGeom>
        </p:spPr>
      </p:pic>
      <p:pic>
        <p:nvPicPr>
          <p:cNvPr id="17" name="Gráfico 16" descr="Marca de verificación con relleno sólido">
            <a:extLst>
              <a:ext uri="{FF2B5EF4-FFF2-40B4-BE49-F238E27FC236}">
                <a16:creationId xmlns:a16="http://schemas.microsoft.com/office/drawing/2014/main" id="{1906E727-6B58-FB25-A7BE-DC2D26BE6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6179" y="2567321"/>
            <a:ext cx="228600" cy="228600"/>
          </a:xfrm>
          <a:prstGeom prst="rect">
            <a:avLst/>
          </a:prstGeom>
        </p:spPr>
      </p:pic>
      <p:pic>
        <p:nvPicPr>
          <p:cNvPr id="18" name="Gráfico 17" descr="Marca de verificación con relleno sólido">
            <a:extLst>
              <a:ext uri="{FF2B5EF4-FFF2-40B4-BE49-F238E27FC236}">
                <a16:creationId xmlns:a16="http://schemas.microsoft.com/office/drawing/2014/main" id="{59B1ECA4-B55A-78AC-007A-09B221049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6179" y="2951369"/>
            <a:ext cx="228600" cy="2286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B4A6969C-14FB-C86B-8BC0-8D49C0729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1" y="3429000"/>
            <a:ext cx="6999998" cy="3109301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AA1064A7-97C7-810B-8AA4-802810494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827" y="545009"/>
            <a:ext cx="3628281" cy="3505127"/>
          </a:xfrm>
          <a:prstGeom prst="rect">
            <a:avLst/>
          </a:prstGeom>
        </p:spPr>
      </p:pic>
      <p:pic>
        <p:nvPicPr>
          <p:cNvPr id="29" name="Gráfico 28" descr="Flecha: curva con sentido de las agujas del reloj con relleno sólido">
            <a:extLst>
              <a:ext uri="{FF2B5EF4-FFF2-40B4-BE49-F238E27FC236}">
                <a16:creationId xmlns:a16="http://schemas.microsoft.com/office/drawing/2014/main" id="{67733847-3097-036E-B021-BEC0B6FD4B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4111758">
            <a:off x="6815470" y="3036804"/>
            <a:ext cx="1911343" cy="1911343"/>
          </a:xfrm>
          <a:prstGeom prst="rect">
            <a:avLst/>
          </a:prstGeom>
        </p:spPr>
      </p:pic>
      <p:pic>
        <p:nvPicPr>
          <p:cNvPr id="30" name="Picture 8" descr="Trello Logo and symbol, meaning, history, PNG">
            <a:extLst>
              <a:ext uri="{FF2B5EF4-FFF2-40B4-BE49-F238E27FC236}">
                <a16:creationId xmlns:a16="http://schemas.microsoft.com/office/drawing/2014/main" id="{9FD4C66A-0F01-DC1E-89DE-519DDFE79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0992" y="4237731"/>
            <a:ext cx="2928416" cy="1647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368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88C0710-4460-4525-437A-700FDA5D8BD2}"/>
              </a:ext>
            </a:extLst>
          </p:cNvPr>
          <p:cNvSpPr txBox="1"/>
          <p:nvPr/>
        </p:nvSpPr>
        <p:spPr>
          <a:xfrm>
            <a:off x="676656" y="740664"/>
            <a:ext cx="898855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ES" sz="4000" b="1" dirty="0">
                <a:solidFill>
                  <a:srgbClr val="FFC000"/>
                </a:solidFill>
              </a:rPr>
              <a:t>UI/UX</a:t>
            </a:r>
          </a:p>
          <a:p>
            <a:pPr>
              <a:buNone/>
            </a:pPr>
            <a:r>
              <a:rPr lang="es-ES" dirty="0"/>
              <a:t>	</a:t>
            </a:r>
          </a:p>
          <a:p>
            <a:pPr>
              <a:buNone/>
            </a:pPr>
            <a:r>
              <a:rPr lang="es-ES" dirty="0"/>
              <a:t>	Diseñamos </a:t>
            </a:r>
            <a:r>
              <a:rPr lang="es-ES" b="1" dirty="0"/>
              <a:t>mockups</a:t>
            </a:r>
            <a:r>
              <a:rPr lang="es-ES" dirty="0"/>
              <a:t> para visualizar la app antes de desarrollarla.</a:t>
            </a:r>
          </a:p>
          <a:p>
            <a:pPr>
              <a:buNone/>
            </a:pPr>
            <a:br>
              <a:rPr lang="es-ES" dirty="0"/>
            </a:br>
            <a:r>
              <a:rPr lang="es-ES" dirty="0"/>
              <a:t>	Definimos </a:t>
            </a:r>
            <a:r>
              <a:rPr lang="es-ES" b="1" dirty="0"/>
              <a:t>colores, tipografías y estilos</a:t>
            </a:r>
            <a:r>
              <a:rPr lang="es-ES" dirty="0"/>
              <a:t> para lograr una interfaz clara y atractiva.</a:t>
            </a:r>
          </a:p>
          <a:p>
            <a:pPr>
              <a:buNone/>
            </a:pPr>
            <a:endParaRPr lang="es-ES" dirty="0"/>
          </a:p>
          <a:p>
            <a:r>
              <a:rPr lang="es-ES" dirty="0"/>
              <a:t>	Buscamos una experiencia sencilla, rápida y cómoda para el usuario.</a:t>
            </a:r>
          </a:p>
          <a:p>
            <a:endParaRPr lang="es-CO" dirty="0"/>
          </a:p>
        </p:txBody>
      </p:sp>
      <p:pic>
        <p:nvPicPr>
          <p:cNvPr id="3" name="Gráfico 2" descr="Marca de verificación con relleno sólido">
            <a:extLst>
              <a:ext uri="{FF2B5EF4-FFF2-40B4-BE49-F238E27FC236}">
                <a16:creationId xmlns:a16="http://schemas.microsoft.com/office/drawing/2014/main" id="{FE1D4E38-CC83-4162-7268-CDE0EC038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9379" y="1599073"/>
            <a:ext cx="228600" cy="228600"/>
          </a:xfrm>
          <a:prstGeom prst="rect">
            <a:avLst/>
          </a:prstGeom>
        </p:spPr>
      </p:pic>
      <p:pic>
        <p:nvPicPr>
          <p:cNvPr id="4" name="Gráfico 3" descr="Marca de verificación con relleno sólido">
            <a:extLst>
              <a:ext uri="{FF2B5EF4-FFF2-40B4-BE49-F238E27FC236}">
                <a16:creationId xmlns:a16="http://schemas.microsoft.com/office/drawing/2014/main" id="{B59BE2C1-2114-8AC7-00C5-48C0B0F0D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9379" y="1983121"/>
            <a:ext cx="228600" cy="228600"/>
          </a:xfrm>
          <a:prstGeom prst="rect">
            <a:avLst/>
          </a:prstGeom>
        </p:spPr>
      </p:pic>
      <p:pic>
        <p:nvPicPr>
          <p:cNvPr id="5" name="Gráfico 4" descr="Marca de verificación con relleno sólido">
            <a:extLst>
              <a:ext uri="{FF2B5EF4-FFF2-40B4-BE49-F238E27FC236}">
                <a16:creationId xmlns:a16="http://schemas.microsoft.com/office/drawing/2014/main" id="{25C8F5CB-3B8E-9FF5-B899-960ECDC50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9379" y="2367169"/>
            <a:ext cx="228600" cy="2286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CA11D1E-2D46-1DCA-040A-26DCEB705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8773" y="2956655"/>
            <a:ext cx="5118778" cy="3681928"/>
          </a:xfrm>
          <a:prstGeom prst="rect">
            <a:avLst/>
          </a:prstGeom>
        </p:spPr>
      </p:pic>
      <p:pic>
        <p:nvPicPr>
          <p:cNvPr id="2050" name="Picture 2" descr="Figma logo transparent PNG - StickPNG">
            <a:extLst>
              <a:ext uri="{FF2B5EF4-FFF2-40B4-BE49-F238E27FC236}">
                <a16:creationId xmlns:a16="http://schemas.microsoft.com/office/drawing/2014/main" id="{29637741-6DD0-81B1-EA72-CE5F49752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0396" y="906558"/>
            <a:ext cx="1842230" cy="1842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hatGPT Logo - símbolo, significado logotipo, historia, PNG">
            <a:extLst>
              <a:ext uri="{FF2B5EF4-FFF2-40B4-BE49-F238E27FC236}">
                <a16:creationId xmlns:a16="http://schemas.microsoft.com/office/drawing/2014/main" id="{EDCD725E-6489-5AE0-DCC1-FFBAA6325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8269" y="2481469"/>
            <a:ext cx="2526482" cy="142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n 19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6023DC17-5B73-4188-FC8C-6E3973A3D0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8557" y="3724966"/>
            <a:ext cx="2425907" cy="194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06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D9C873-DCFF-9646-0215-17456C8A08E2}"/>
              </a:ext>
            </a:extLst>
          </p:cNvPr>
          <p:cNvSpPr txBox="1"/>
          <p:nvPr/>
        </p:nvSpPr>
        <p:spPr>
          <a:xfrm>
            <a:off x="561975" y="990600"/>
            <a:ext cx="6429375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ES" sz="4000" b="1" dirty="0">
                <a:solidFill>
                  <a:srgbClr val="FFC000"/>
                </a:solidFill>
              </a:rPr>
              <a:t>Arquitectura y tecnologías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dirty="0"/>
              <a:t>Trabajamos con una </a:t>
            </a:r>
            <a:r>
              <a:rPr lang="es-ES" b="1" dirty="0"/>
              <a:t>arquitectura monolítica</a:t>
            </a:r>
            <a:r>
              <a:rPr lang="es-ES" dirty="0"/>
              <a:t>, sencilla y efectiva para este tipo de proyecto.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b="1" dirty="0">
                <a:solidFill>
                  <a:srgbClr val="FFC000"/>
                </a:solidFill>
              </a:rPr>
              <a:t>Tecnologías utilizadas:</a:t>
            </a:r>
          </a:p>
          <a:p>
            <a:pPr>
              <a:buNone/>
            </a:pPr>
            <a:endParaRPr lang="es-ES" b="1" dirty="0">
              <a:solidFill>
                <a:srgbClr val="FFC000"/>
              </a:solidFill>
            </a:endParaRPr>
          </a:p>
          <a:p>
            <a:r>
              <a:rPr lang="es-ES" b="1" dirty="0"/>
              <a:t>	Docker</a:t>
            </a:r>
            <a:r>
              <a:rPr lang="es-ES" dirty="0"/>
              <a:t> para </a:t>
            </a:r>
            <a:r>
              <a:rPr lang="es-ES" dirty="0" err="1"/>
              <a:t>contenerizar</a:t>
            </a:r>
            <a:r>
              <a:rPr lang="es-ES" dirty="0"/>
              <a:t> el </a:t>
            </a:r>
            <a:r>
              <a:rPr lang="es-ES" dirty="0" err="1"/>
              <a:t>backend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b="1" dirty="0"/>
              <a:t>	Angular</a:t>
            </a:r>
            <a:r>
              <a:rPr lang="es-ES" dirty="0"/>
              <a:t> para el desarrollo del </a:t>
            </a:r>
            <a:r>
              <a:rPr lang="es-ES" dirty="0" err="1"/>
              <a:t>frontend</a:t>
            </a:r>
            <a:r>
              <a:rPr lang="es-ES" dirty="0"/>
              <a:t> móvil.</a:t>
            </a:r>
          </a:p>
          <a:p>
            <a:endParaRPr lang="es-ES" dirty="0"/>
          </a:p>
          <a:p>
            <a:r>
              <a:rPr lang="es-ES" b="1" dirty="0"/>
              <a:t>	Android Studio</a:t>
            </a:r>
            <a:r>
              <a:rPr lang="es-ES" dirty="0"/>
              <a:t> para compilar y probar la app en dispositivos.</a:t>
            </a:r>
          </a:p>
          <a:p>
            <a:endParaRPr lang="es-ES" dirty="0"/>
          </a:p>
          <a:p>
            <a:r>
              <a:rPr lang="es-ES" b="1" dirty="0"/>
              <a:t>	GitHub</a:t>
            </a:r>
            <a:r>
              <a:rPr lang="es-ES" dirty="0"/>
              <a:t> para el control de versiones y trabajo colaborativo.</a:t>
            </a:r>
          </a:p>
          <a:p>
            <a:endParaRPr lang="es-ES" dirty="0"/>
          </a:p>
          <a:p>
            <a:r>
              <a:rPr lang="es-ES" dirty="0"/>
              <a:t>Un </a:t>
            </a:r>
            <a:r>
              <a:rPr lang="es-ES" dirty="0" err="1"/>
              <a:t>stack</a:t>
            </a:r>
            <a:r>
              <a:rPr lang="es-ES" dirty="0"/>
              <a:t> sólido y funcional para lograr una app estable y escalable.</a:t>
            </a:r>
          </a:p>
        </p:txBody>
      </p:sp>
      <p:pic>
        <p:nvPicPr>
          <p:cNvPr id="3" name="Gráfico 2" descr="Marca de verificación con relleno sólido">
            <a:extLst>
              <a:ext uri="{FF2B5EF4-FFF2-40B4-BE49-F238E27FC236}">
                <a16:creationId xmlns:a16="http://schemas.microsoft.com/office/drawing/2014/main" id="{E311B8A1-7367-5B07-CAAF-A5E0088D2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242" y="3611690"/>
            <a:ext cx="228600" cy="228600"/>
          </a:xfrm>
          <a:prstGeom prst="rect">
            <a:avLst/>
          </a:prstGeom>
        </p:spPr>
      </p:pic>
      <p:pic>
        <p:nvPicPr>
          <p:cNvPr id="4" name="Gráfico 3" descr="Marca de verificación con relleno sólido">
            <a:extLst>
              <a:ext uri="{FF2B5EF4-FFF2-40B4-BE49-F238E27FC236}">
                <a16:creationId xmlns:a16="http://schemas.microsoft.com/office/drawing/2014/main" id="{455353DE-9448-053C-148A-F53E6A486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242" y="3995738"/>
            <a:ext cx="228600" cy="228600"/>
          </a:xfrm>
          <a:prstGeom prst="rect">
            <a:avLst/>
          </a:prstGeom>
        </p:spPr>
      </p:pic>
      <p:pic>
        <p:nvPicPr>
          <p:cNvPr id="5" name="Gráfico 4" descr="Marca de verificación con relleno sólido">
            <a:extLst>
              <a:ext uri="{FF2B5EF4-FFF2-40B4-BE49-F238E27FC236}">
                <a16:creationId xmlns:a16="http://schemas.microsoft.com/office/drawing/2014/main" id="{E305A2E3-78CF-F860-ACE5-9A302A749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242" y="4379786"/>
            <a:ext cx="228600" cy="228600"/>
          </a:xfrm>
          <a:prstGeom prst="rect">
            <a:avLst/>
          </a:prstGeom>
        </p:spPr>
      </p:pic>
      <p:pic>
        <p:nvPicPr>
          <p:cNvPr id="6" name="Gráfico 5" descr="Marca de verificación con relleno sólido">
            <a:extLst>
              <a:ext uri="{FF2B5EF4-FFF2-40B4-BE49-F238E27FC236}">
                <a16:creationId xmlns:a16="http://schemas.microsoft.com/office/drawing/2014/main" id="{8150F516-062B-49A6-9258-934631D59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242" y="4743117"/>
            <a:ext cx="228600" cy="228600"/>
          </a:xfrm>
          <a:prstGeom prst="rect">
            <a:avLst/>
          </a:prstGeom>
        </p:spPr>
      </p:pic>
      <p:pic>
        <p:nvPicPr>
          <p:cNvPr id="5126" name="Picture 6" descr="Logotipo completo de Docker PNG transparente - StickPNG">
            <a:extLst>
              <a:ext uri="{FF2B5EF4-FFF2-40B4-BE49-F238E27FC236}">
                <a16:creationId xmlns:a16="http://schemas.microsoft.com/office/drawing/2014/main" id="{3F4965DB-DAA6-A594-09BB-265C00162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1532" y="231417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Android Studio Logo PNG vector in SVG, PDF, AI, CDR format">
            <a:extLst>
              <a:ext uri="{FF2B5EF4-FFF2-40B4-BE49-F238E27FC236}">
                <a16:creationId xmlns:a16="http://schemas.microsoft.com/office/drawing/2014/main" id="{7726B61A-9F4A-45D2-8431-AC4C6656A3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70"/>
          <a:stretch/>
        </p:blipFill>
        <p:spPr bwMode="auto">
          <a:xfrm>
            <a:off x="8129587" y="408967"/>
            <a:ext cx="23336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Angular Development -">
            <a:extLst>
              <a:ext uri="{FF2B5EF4-FFF2-40B4-BE49-F238E27FC236}">
                <a16:creationId xmlns:a16="http://schemas.microsoft.com/office/drawing/2014/main" id="{B5BA8B5B-0268-DEF0-8EC7-48B21AA41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629" y="2552092"/>
            <a:ext cx="2692154" cy="166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GitHub Logo, symbol, meaning, history, PNG, brand">
            <a:extLst>
              <a:ext uri="{FF2B5EF4-FFF2-40B4-BE49-F238E27FC236}">
                <a16:creationId xmlns:a16="http://schemas.microsoft.com/office/drawing/2014/main" id="{2D99C77F-1BCA-7960-15C1-642FF521F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0706" y="4379786"/>
            <a:ext cx="2143125" cy="120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462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293337F-D5C2-5F61-0972-DF86BE995BD9}"/>
              </a:ext>
            </a:extLst>
          </p:cNvPr>
          <p:cNvSpPr txBox="1"/>
          <p:nvPr/>
        </p:nvSpPr>
        <p:spPr>
          <a:xfrm>
            <a:off x="990600" y="809625"/>
            <a:ext cx="78867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s-ES" sz="3600" b="1" dirty="0">
                <a:solidFill>
                  <a:srgbClr val="FFC000"/>
                </a:solidFill>
              </a:rPr>
              <a:t>Scrum y metodología</a:t>
            </a:r>
          </a:p>
          <a:p>
            <a:pPr>
              <a:buNone/>
            </a:pPr>
            <a:endParaRPr lang="es-ES" sz="3600" b="1" dirty="0">
              <a:solidFill>
                <a:srgbClr val="FFC000"/>
              </a:solidFill>
            </a:endParaRPr>
          </a:p>
          <a:p>
            <a:pPr>
              <a:buNone/>
            </a:pPr>
            <a:r>
              <a:rPr lang="es-ES" dirty="0"/>
              <a:t>Aplicamos la metodología </a:t>
            </a:r>
            <a:r>
              <a:rPr lang="es-ES" b="1" dirty="0"/>
              <a:t>ágil Scrum</a:t>
            </a:r>
            <a:r>
              <a:rPr lang="es-ES" dirty="0"/>
              <a:t> para organizar el trabajo en equipo:</a:t>
            </a:r>
          </a:p>
          <a:p>
            <a:pPr>
              <a:buNone/>
            </a:pPr>
            <a:endParaRPr lang="es-ES" dirty="0"/>
          </a:p>
          <a:p>
            <a:pPr lvl="2"/>
            <a:r>
              <a:rPr lang="es-ES" dirty="0"/>
              <a:t>	Planificamos por </a:t>
            </a:r>
            <a:r>
              <a:rPr lang="es-ES" b="1" dirty="0" err="1"/>
              <a:t>sprints</a:t>
            </a:r>
            <a:r>
              <a:rPr lang="es-ES" b="1" dirty="0"/>
              <a:t> semanales</a:t>
            </a:r>
            <a:r>
              <a:rPr lang="es-ES" dirty="0"/>
              <a:t>.</a:t>
            </a:r>
          </a:p>
          <a:p>
            <a:pPr lvl="2"/>
            <a:endParaRPr lang="es-ES" dirty="0"/>
          </a:p>
          <a:p>
            <a:pPr lvl="2"/>
            <a:r>
              <a:rPr lang="es-ES" dirty="0"/>
              <a:t>	Hicimos </a:t>
            </a:r>
            <a:r>
              <a:rPr lang="es-ES" b="1" dirty="0" err="1"/>
              <a:t>daily</a:t>
            </a:r>
            <a:r>
              <a:rPr lang="es-ES" b="1" dirty="0"/>
              <a:t> meetings</a:t>
            </a:r>
            <a:r>
              <a:rPr lang="es-ES" dirty="0"/>
              <a:t> para revisar avances.</a:t>
            </a:r>
          </a:p>
          <a:p>
            <a:pPr lvl="2"/>
            <a:endParaRPr lang="es-ES" dirty="0"/>
          </a:p>
          <a:p>
            <a:pPr lvl="2"/>
            <a:r>
              <a:rPr lang="es-ES" dirty="0"/>
              <a:t>	Cerramos cada ciclo con </a:t>
            </a:r>
            <a:r>
              <a:rPr lang="es-ES" b="1" dirty="0"/>
              <a:t>retrospectivas</a:t>
            </a:r>
            <a:r>
              <a:rPr lang="es-ES" dirty="0"/>
              <a:t>.</a:t>
            </a:r>
          </a:p>
          <a:p>
            <a:pPr lvl="2"/>
            <a:endParaRPr lang="es-ES" dirty="0"/>
          </a:p>
          <a:p>
            <a:r>
              <a:rPr lang="es-ES" dirty="0"/>
              <a:t>Cada historia de usuario fue desarrollada, probada y registrada con </a:t>
            </a:r>
            <a:r>
              <a:rPr lang="es-ES" b="1" dirty="0" err="1"/>
              <a:t>commits</a:t>
            </a:r>
            <a:r>
              <a:rPr lang="es-ES" b="1" dirty="0"/>
              <a:t> en GitHub</a:t>
            </a:r>
            <a:r>
              <a:rPr lang="es-ES" dirty="0"/>
              <a:t>.</a:t>
            </a:r>
          </a:p>
        </p:txBody>
      </p:sp>
      <p:pic>
        <p:nvPicPr>
          <p:cNvPr id="3" name="Gráfico 2" descr="Marca de verificación con relleno sólido">
            <a:extLst>
              <a:ext uri="{FF2B5EF4-FFF2-40B4-BE49-F238E27FC236}">
                <a16:creationId xmlns:a16="http://schemas.microsoft.com/office/drawing/2014/main" id="{0B3B9C70-3478-2EDB-672C-735F41853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9579" y="2432304"/>
            <a:ext cx="228600" cy="228600"/>
          </a:xfrm>
          <a:prstGeom prst="rect">
            <a:avLst/>
          </a:prstGeom>
        </p:spPr>
      </p:pic>
      <p:pic>
        <p:nvPicPr>
          <p:cNvPr id="4" name="Gráfico 3" descr="Marca de verificación con relleno sólido">
            <a:extLst>
              <a:ext uri="{FF2B5EF4-FFF2-40B4-BE49-F238E27FC236}">
                <a16:creationId xmlns:a16="http://schemas.microsoft.com/office/drawing/2014/main" id="{BE87A402-4B5D-7049-973D-0F8E488FB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9579" y="2816352"/>
            <a:ext cx="228600" cy="228600"/>
          </a:xfrm>
          <a:prstGeom prst="rect">
            <a:avLst/>
          </a:prstGeom>
        </p:spPr>
      </p:pic>
      <p:pic>
        <p:nvPicPr>
          <p:cNvPr id="5" name="Gráfico 4" descr="Marca de verificación con relleno sólido">
            <a:extLst>
              <a:ext uri="{FF2B5EF4-FFF2-40B4-BE49-F238E27FC236}">
                <a16:creationId xmlns:a16="http://schemas.microsoft.com/office/drawing/2014/main" id="{E02AA0EC-36B8-C565-2B35-13009E293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9579" y="3200400"/>
            <a:ext cx="228600" cy="228600"/>
          </a:xfrm>
          <a:prstGeom prst="rect">
            <a:avLst/>
          </a:prstGeom>
        </p:spPr>
      </p:pic>
      <p:sp>
        <p:nvSpPr>
          <p:cNvPr id="7" name="AutoShape 4" descr="Scrum: qué es y por qué es una de las metodologías ágiles">
            <a:extLst>
              <a:ext uri="{FF2B5EF4-FFF2-40B4-BE49-F238E27FC236}">
                <a16:creationId xmlns:a16="http://schemas.microsoft.com/office/drawing/2014/main" id="{C28959A6-5A63-FC39-006D-F06D376965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545592"/>
            <a:ext cx="3035808" cy="30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6150" name="Picture 6" descr="Primeros pasos scrum">
            <a:extLst>
              <a:ext uri="{FF2B5EF4-FFF2-40B4-BE49-F238E27FC236}">
                <a16:creationId xmlns:a16="http://schemas.microsoft.com/office/drawing/2014/main" id="{13B08478-4E7F-810E-B1FB-7A472276F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635" y="4331655"/>
            <a:ext cx="4023709" cy="2263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Tarea - Iconos gratis de archivos y carpetas">
            <a:extLst>
              <a:ext uri="{FF2B5EF4-FFF2-40B4-BE49-F238E27FC236}">
                <a16:creationId xmlns:a16="http://schemas.microsoft.com/office/drawing/2014/main" id="{A5B01C62-0513-536C-3E84-D578DD478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0577" y="1207008"/>
            <a:ext cx="1609344" cy="160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Management Team icon vector image. Suitable for mobile apps ...">
            <a:extLst>
              <a:ext uri="{FF2B5EF4-FFF2-40B4-BE49-F238E27FC236}">
                <a16:creationId xmlns:a16="http://schemas.microsoft.com/office/drawing/2014/main" id="{7530F094-62DB-88F1-3B90-85296BE25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799" y="3195413"/>
            <a:ext cx="2455545" cy="227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643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0D038D1-8F7B-ABB1-BA54-D4E5E2F5A413}"/>
              </a:ext>
            </a:extLst>
          </p:cNvPr>
          <p:cNvSpPr txBox="1"/>
          <p:nvPr/>
        </p:nvSpPr>
        <p:spPr>
          <a:xfrm>
            <a:off x="402336" y="640081"/>
            <a:ext cx="858164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000" b="1" dirty="0">
                <a:solidFill>
                  <a:srgbClr val="FFC000"/>
                </a:solidFill>
              </a:rPr>
              <a:t>Desarrollo técnico</a:t>
            </a:r>
          </a:p>
          <a:p>
            <a:pPr>
              <a:buNone/>
            </a:pPr>
            <a:endParaRPr lang="es-ES" sz="4000" b="1" dirty="0">
              <a:solidFill>
                <a:srgbClr val="FFC000"/>
              </a:solidFill>
            </a:endParaRPr>
          </a:p>
          <a:p>
            <a:pPr lvl="1"/>
            <a:r>
              <a:rPr lang="es-ES" dirty="0"/>
              <a:t>	Iniciamos montando el </a:t>
            </a:r>
            <a:r>
              <a:rPr lang="es-ES" dirty="0" err="1"/>
              <a:t>backend</a:t>
            </a:r>
            <a:r>
              <a:rPr lang="es-ES" dirty="0"/>
              <a:t> en </a:t>
            </a:r>
            <a:r>
              <a:rPr lang="es-ES" b="1" dirty="0"/>
              <a:t>Docker</a:t>
            </a:r>
            <a:r>
              <a:rPr lang="es-ES" dirty="0"/>
              <a:t>, asegurando un entorno estable y replicable.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dirty="0"/>
              <a:t>	Luego desarrollamos el </a:t>
            </a:r>
            <a:r>
              <a:rPr lang="es-ES" dirty="0" err="1"/>
              <a:t>frontend</a:t>
            </a:r>
            <a:r>
              <a:rPr lang="es-ES" dirty="0"/>
              <a:t> móvil en </a:t>
            </a:r>
            <a:r>
              <a:rPr lang="es-ES" b="1" dirty="0"/>
              <a:t>Angular</a:t>
            </a:r>
            <a:r>
              <a:rPr lang="es-ES" dirty="0"/>
              <a:t>, integrado con los servicios del </a:t>
            </a:r>
            <a:r>
              <a:rPr lang="es-ES" dirty="0" err="1"/>
              <a:t>backend</a:t>
            </a:r>
            <a:r>
              <a:rPr lang="es-ES" dirty="0"/>
              <a:t>.</a:t>
            </a:r>
          </a:p>
          <a:p>
            <a:pPr>
              <a:buNone/>
            </a:pPr>
            <a:endParaRPr lang="es-ES" dirty="0"/>
          </a:p>
          <a:p>
            <a:r>
              <a:rPr lang="es-ES" dirty="0"/>
              <a:t>	Cada funcionalidad fue conectada, probada y validada con datos reales.</a:t>
            </a:r>
          </a:p>
        </p:txBody>
      </p:sp>
      <p:pic>
        <p:nvPicPr>
          <p:cNvPr id="8" name="Gráfico 7" descr="Marca de verificación con relleno sólido">
            <a:extLst>
              <a:ext uri="{FF2B5EF4-FFF2-40B4-BE49-F238E27FC236}">
                <a16:creationId xmlns:a16="http://schemas.microsoft.com/office/drawing/2014/main" id="{DB9AEDFA-9BFD-F361-CDA4-F8720B833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9029" y="1930654"/>
            <a:ext cx="228600" cy="228600"/>
          </a:xfrm>
          <a:prstGeom prst="rect">
            <a:avLst/>
          </a:prstGeom>
        </p:spPr>
      </p:pic>
      <p:pic>
        <p:nvPicPr>
          <p:cNvPr id="9" name="Gráfico 8" descr="Marca de verificación con relleno sólido">
            <a:extLst>
              <a:ext uri="{FF2B5EF4-FFF2-40B4-BE49-F238E27FC236}">
                <a16:creationId xmlns:a16="http://schemas.microsoft.com/office/drawing/2014/main" id="{79AF4AF5-D85C-66FF-3EC5-056E01213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9029" y="2314702"/>
            <a:ext cx="228600" cy="228600"/>
          </a:xfrm>
          <a:prstGeom prst="rect">
            <a:avLst/>
          </a:prstGeom>
        </p:spPr>
      </p:pic>
      <p:pic>
        <p:nvPicPr>
          <p:cNvPr id="10" name="Gráfico 9" descr="Marca de verificación con relleno sólido">
            <a:extLst>
              <a:ext uri="{FF2B5EF4-FFF2-40B4-BE49-F238E27FC236}">
                <a16:creationId xmlns:a16="http://schemas.microsoft.com/office/drawing/2014/main" id="{8B06B237-4B5B-C5A0-086D-C50FE4493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9029" y="2698750"/>
            <a:ext cx="228600" cy="2286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775BDF9-8139-918F-FDF2-D892CE305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72" y="3568271"/>
            <a:ext cx="7038966" cy="216250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E86E980-30BA-0102-D1A0-F0AD1DF633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7740" y="2849423"/>
            <a:ext cx="3854331" cy="2432029"/>
          </a:xfrm>
          <a:prstGeom prst="rect">
            <a:avLst/>
          </a:prstGeom>
        </p:spPr>
      </p:pic>
      <p:pic>
        <p:nvPicPr>
          <p:cNvPr id="15" name="Picture 12" descr="Angular Development -">
            <a:extLst>
              <a:ext uri="{FF2B5EF4-FFF2-40B4-BE49-F238E27FC236}">
                <a16:creationId xmlns:a16="http://schemas.microsoft.com/office/drawing/2014/main" id="{C1CBDDAE-9063-304D-0F89-96FD27EFA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3980" y="730969"/>
            <a:ext cx="2479021" cy="1535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n 18" descr="Logotipo&#10;&#10;El contenido generado por IA puede ser incorrecto.">
            <a:extLst>
              <a:ext uri="{FF2B5EF4-FFF2-40B4-BE49-F238E27FC236}">
                <a16:creationId xmlns:a16="http://schemas.microsoft.com/office/drawing/2014/main" id="{9AC0881C-ADFF-CE15-B699-7001BC0F77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8804" y="4475614"/>
            <a:ext cx="2353056" cy="1206802"/>
          </a:xfrm>
          <a:prstGeom prst="rect">
            <a:avLst/>
          </a:prstGeom>
        </p:spPr>
      </p:pic>
      <p:pic>
        <p:nvPicPr>
          <p:cNvPr id="21" name="Imagen 20" descr="Logotipo&#10;&#10;El contenido generado por IA puede ser incorrecto.">
            <a:extLst>
              <a:ext uri="{FF2B5EF4-FFF2-40B4-BE49-F238E27FC236}">
                <a16:creationId xmlns:a16="http://schemas.microsoft.com/office/drawing/2014/main" id="{A994F137-74B2-743D-CC7A-7A00967388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4214" y="4709160"/>
            <a:ext cx="1811145" cy="181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47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ADCB567-A674-9991-A36C-CC19FEC88940}"/>
              </a:ext>
            </a:extLst>
          </p:cNvPr>
          <p:cNvSpPr txBox="1"/>
          <p:nvPr/>
        </p:nvSpPr>
        <p:spPr>
          <a:xfrm>
            <a:off x="681228" y="761399"/>
            <a:ext cx="100721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4000" b="1" dirty="0">
                <a:solidFill>
                  <a:srgbClr val="FFC000"/>
                </a:solidFill>
              </a:rPr>
              <a:t>Resultado final</a:t>
            </a:r>
          </a:p>
          <a:p>
            <a:pPr>
              <a:buNone/>
            </a:pPr>
            <a:endParaRPr lang="es-ES" b="1" dirty="0"/>
          </a:p>
          <a:p>
            <a:pPr>
              <a:buNone/>
            </a:pPr>
            <a:r>
              <a:rPr lang="es-ES" dirty="0"/>
              <a:t>Golden Barber Shop es una app funcional, moderna y fácil de usar.</a:t>
            </a:r>
          </a:p>
          <a:p>
            <a:pPr>
              <a:buNone/>
            </a:pPr>
            <a:r>
              <a:rPr lang="es-ES" dirty="0"/>
              <a:t>Permite reservar turnos, consultar disponibilidad, y acceder a información del negocio, todo desde el celular.</a:t>
            </a:r>
          </a:p>
          <a:p>
            <a:r>
              <a:rPr lang="es-ES" dirty="0"/>
              <a:t>Una solución real para una necesidad real, pensada para mejorar la experiencia del cliente y del equipo de trabajo.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2435BF-253E-D8F4-833A-EA0F600EE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" y="2564683"/>
            <a:ext cx="1921474" cy="35319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4CE0284-12CD-8174-2AD4-2EF24B0B3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702" y="2564683"/>
            <a:ext cx="2087371" cy="353191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92F5608-97A4-4E8A-9BBE-EEFBB383C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176" y="2678216"/>
            <a:ext cx="1999726" cy="365200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DB3EC7F-D975-3A6F-7E2B-5FF6226A7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219" y="2798307"/>
            <a:ext cx="1974595" cy="353191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BCFC14D-0999-B59C-8891-D9E192022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0674" y="2564683"/>
            <a:ext cx="1506286" cy="274060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07BA65E-4651-D10E-0BFF-F74ABC97AF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7210" y="2564683"/>
            <a:ext cx="1461206" cy="274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62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09BAD16-D424-F364-BB5E-0EC6FF759B01}"/>
              </a:ext>
            </a:extLst>
          </p:cNvPr>
          <p:cNvSpPr txBox="1"/>
          <p:nvPr/>
        </p:nvSpPr>
        <p:spPr>
          <a:xfrm>
            <a:off x="2008289" y="634428"/>
            <a:ext cx="1002182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800" dirty="0">
                <a:solidFill>
                  <a:schemeClr val="tx1"/>
                </a:solidFill>
              </a:rPr>
              <a:t>¡Gracias!</a:t>
            </a:r>
            <a:endParaRPr lang="es-CO" sz="13800" dirty="0">
              <a:solidFill>
                <a:schemeClr val="tx1"/>
              </a:solidFill>
            </a:endParaRPr>
          </a:p>
        </p:txBody>
      </p:sp>
      <p:pic>
        <p:nvPicPr>
          <p:cNvPr id="4" name="Picture 12" descr="Angular Development -">
            <a:extLst>
              <a:ext uri="{FF2B5EF4-FFF2-40B4-BE49-F238E27FC236}">
                <a16:creationId xmlns:a16="http://schemas.microsoft.com/office/drawing/2014/main" id="{C607FE95-2D54-78A9-C89D-6666266AC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671" y="4334851"/>
            <a:ext cx="2479021" cy="1535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Logotipo completo de Docker PNG transparente - StickPNG">
            <a:extLst>
              <a:ext uri="{FF2B5EF4-FFF2-40B4-BE49-F238E27FC236}">
                <a16:creationId xmlns:a16="http://schemas.microsoft.com/office/drawing/2014/main" id="{BE1E0A6F-41AF-A2A8-1848-84CAD1AF1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972" y="4201798"/>
            <a:ext cx="1985807" cy="1985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Android Studio Logo PNG vector in SVG, PDF, AI, CDR format">
            <a:extLst>
              <a:ext uri="{FF2B5EF4-FFF2-40B4-BE49-F238E27FC236}">
                <a16:creationId xmlns:a16="http://schemas.microsoft.com/office/drawing/2014/main" id="{46065B2D-A413-375A-6ED5-4B56D7AAC4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64" r="18270"/>
          <a:stretch/>
        </p:blipFill>
        <p:spPr bwMode="auto">
          <a:xfrm>
            <a:off x="4734694" y="4123138"/>
            <a:ext cx="1860693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GitHub Logo, symbol, meaning, history, PNG, brand">
            <a:extLst>
              <a:ext uri="{FF2B5EF4-FFF2-40B4-BE49-F238E27FC236}">
                <a16:creationId xmlns:a16="http://schemas.microsoft.com/office/drawing/2014/main" id="{BC26BADB-F649-EA2C-F3C7-093B12E77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66" y="4499748"/>
            <a:ext cx="2143125" cy="1205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 descr="Logotipo&#10;&#10;El contenido generado por IA puede ser incorrecto.">
            <a:extLst>
              <a:ext uri="{FF2B5EF4-FFF2-40B4-BE49-F238E27FC236}">
                <a16:creationId xmlns:a16="http://schemas.microsoft.com/office/drawing/2014/main" id="{43F7267C-02AA-A676-722A-5B0E0558B9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1372" y="4309916"/>
            <a:ext cx="3042196" cy="1560238"/>
          </a:xfrm>
          <a:prstGeom prst="rect">
            <a:avLst/>
          </a:prstGeom>
        </p:spPr>
      </p:pic>
      <p:pic>
        <p:nvPicPr>
          <p:cNvPr id="11" name="Picture 8" descr="Trello Logo and symbol, meaning, history, PNG">
            <a:extLst>
              <a:ext uri="{FF2B5EF4-FFF2-40B4-BE49-F238E27FC236}">
                <a16:creationId xmlns:a16="http://schemas.microsoft.com/office/drawing/2014/main" id="{212945F0-6C38-E0AF-6D72-ACE2C4151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832" y="2554564"/>
            <a:ext cx="2928416" cy="1647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Figma logo transparent PNG - StickPNG">
            <a:extLst>
              <a:ext uri="{FF2B5EF4-FFF2-40B4-BE49-F238E27FC236}">
                <a16:creationId xmlns:a16="http://schemas.microsoft.com/office/drawing/2014/main" id="{EF866B1E-3653-CA1F-6E98-AB18DD7F9F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7"/>
          <a:stretch/>
        </p:blipFill>
        <p:spPr bwMode="auto">
          <a:xfrm>
            <a:off x="2005603" y="2888769"/>
            <a:ext cx="1842230" cy="1421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ChatGPT Logo - símbolo, significado logotipo, historia, PNG">
            <a:extLst>
              <a:ext uri="{FF2B5EF4-FFF2-40B4-BE49-F238E27FC236}">
                <a16:creationId xmlns:a16="http://schemas.microsoft.com/office/drawing/2014/main" id="{70DDA092-866C-CCFA-12FB-9C2EB547EF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27"/>
          <a:stretch/>
        </p:blipFill>
        <p:spPr bwMode="auto">
          <a:xfrm>
            <a:off x="7019201" y="2686841"/>
            <a:ext cx="2252937" cy="142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8950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491</Words>
  <Application>Microsoft Office PowerPoint</Application>
  <PresentationFormat>Personalizado</PresentationFormat>
  <Paragraphs>93</Paragraphs>
  <Slides>10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Katherine Bello</dc:creator>
  <cp:lastModifiedBy>oscar areiza</cp:lastModifiedBy>
  <cp:revision>6</cp:revision>
  <dcterms:created xsi:type="dcterms:W3CDTF">2020-08-21T13:03:05Z</dcterms:created>
  <dcterms:modified xsi:type="dcterms:W3CDTF">2025-05-22T14:01:44Z</dcterms:modified>
</cp:coreProperties>
</file>